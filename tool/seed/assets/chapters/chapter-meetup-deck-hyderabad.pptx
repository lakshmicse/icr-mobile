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4174"/>
          </a:solidFill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00" y="1500000"/>
            <a:ext cx="7864000" cy="11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4000" b="1">
                <a:solidFill>
                  <a:srgbClr val="FFFFFF"/>
                </a:solidFill>
              </a:rPr>
              <a:t>ICR Hyderabad Chapter: Meetup Deck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640000" y="2700000"/>
            <a:ext cx="786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C3D0DF"/>
                </a:solidFill>
              </a:rPr>
              <a:t>Highlights from the last chapter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Market snapshot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Grade-A office stock: 108 million sq ft</a:t>
            </a:r>
          </a:p>
          <a:p>
            <a:r>
              <a:rPr lang="en-IN" sz="1800" b="0">
                <a:solidFill>
                  <a:srgbClr val="111C2D"/>
                </a:solidFill>
              </a:rPr>
              <a:t>New supply under construction: 26 million sq ft</a:t>
            </a:r>
          </a:p>
          <a:p>
            <a:r>
              <a:rPr lang="en-IN" sz="1800" b="0">
                <a:solidFill>
                  <a:srgbClr val="111C2D"/>
                </a:solidFill>
              </a:rPr>
              <a:t>Median IFM cost per sq ft per month: Rs 31</a:t>
            </a:r>
          </a:p>
          <a:p>
            <a:r>
              <a:rPr lang="en-IN" sz="1800" b="0">
                <a:solidFill>
                  <a:srgbClr val="111C2D"/>
                </a:solidFill>
              </a:rPr>
              <a:t>Share of new buildings with IGBC or LEED rating: 72%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Themes we heard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New buildings arrive with sophisticated systems and thin operations teams</a:t>
            </a:r>
          </a:p>
          <a:p>
            <a:r>
              <a:rPr lang="en-IN" sz="1800" b="0">
                <a:solidFill>
                  <a:srgbClr val="111C2D"/>
                </a:solidFill>
              </a:rPr>
              <a:t>Data centres and life-science campuses raise the bar on resilience and compliance</a:t>
            </a:r>
          </a:p>
          <a:p>
            <a:r>
              <a:rPr lang="en-IN" sz="1800" b="0">
                <a:solidFill>
                  <a:srgbClr val="111C2D"/>
                </a:solidFill>
              </a:rPr>
              <a:t>Smart-building programmes depend on clean BMS data and clear ownership</a:t>
            </a:r>
          </a:p>
          <a:p>
            <a:r>
              <a:rPr lang="en-IN" sz="1800" b="0">
                <a:solidFill>
                  <a:srgbClr val="111C2D"/>
                </a:solidFill>
              </a:rPr>
              <a:t>Rapid hiring means handover quality decides first-year performance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"/>
          <p:cNvSpPr txBox="1"/>
          <p:nvPr/>
        </p:nvSpPr>
        <p:spPr>
          <a:xfrm>
            <a:off x="0" y="0"/>
            <a:ext cx="9144000" cy="120000"/>
          </a:xfrm>
          <a:prstGeom prst="rect">
            <a:avLst/>
          </a:prstGeom>
          <a:solidFill>
            <a:srgbClr val="1D63A3"/>
          </a:solidFill>
        </p:spPr>
        <p:txBody>
          <a:bodyPr wrap="square" lIns="182880" tIns="91440" rIns="182880" bIns="91440"/>
          <a:lstStyle/>
          <a:p>
            <a:r>
              <a:rPr lang="en-IN" sz="600" b="0">
                <a:solidFill>
                  <a:srgbClr val="111C2D"/>
                </a:solidFill>
              </a:rPr>
              <a:t> </a:t>
            </a:r>
          </a:p>
        </p:txBody>
      </p:sp>
      <p:sp>
        <p:nvSpPr>
          <p:cNvPr id="3" name="Heading"/>
          <p:cNvSpPr txBox="1"/>
          <p:nvPr/>
        </p:nvSpPr>
        <p:spPr>
          <a:xfrm>
            <a:off x="500000" y="380000"/>
            <a:ext cx="8144000" cy="8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3000" b="1">
                <a:solidFill>
                  <a:srgbClr val="144174"/>
                </a:solidFill>
              </a:rPr>
              <a:t>Next steps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500000" y="1300000"/>
            <a:ext cx="8144000" cy="32435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800" b="0">
                <a:solidFill>
                  <a:srgbClr val="111C2D"/>
                </a:solidFill>
              </a:rPr>
              <a:t>Share your site data with the committee</a:t>
            </a:r>
          </a:p>
          <a:p>
            <a:r>
              <a:rPr lang="en-IN" sz="1800" b="0">
                <a:solidFill>
                  <a:srgbClr val="111C2D"/>
                </a:solidFill>
              </a:rPr>
              <a:t>Volunteer for the next session</a:t>
            </a:r>
          </a:p>
          <a:p>
            <a:r>
              <a:rPr lang="en-IN" sz="1800" b="0">
                <a:solidFill>
                  <a:srgbClr val="111C2D"/>
                </a:solidFill>
              </a:rPr>
              <a:t>Join the working group on service levels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00000" y="4693500"/>
            <a:ext cx="8144000" cy="300000"/>
          </a:xfrm>
          <a:prstGeom prst="rect">
            <a:avLst/>
          </a:prstGeom>
          <a:noFill/>
        </p:spPr>
        <p:txBody>
          <a:bodyPr wrap="square" lIns="182880" tIns="91440" rIns="182880" bIns="91440"/>
          <a:lstStyle/>
          <a:p>
            <a:r>
              <a:rPr lang="en-IN" sz="1000" b="0">
                <a:solidFill>
                  <a:srgbClr val="64748B"/>
                </a:solidFill>
              </a:rPr>
              <a:t>ICR Digital Library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R">
  <a:themeElements>
    <a:clrScheme name="ICR">
      <a:dk1>
        <a:srgbClr val="111C2D"/>
      </a:dk1>
      <a:lt1>
        <a:srgbClr val="FFFFFF"/>
      </a:lt1>
      <a:dk2>
        <a:srgbClr val="144174"/>
      </a:dk2>
      <a:lt2>
        <a:srgbClr val="F1F5F9"/>
      </a:lt2>
      <a:accent1>
        <a:srgbClr val="1D63A3"/>
      </a:accent1>
      <a:accent2>
        <a:srgbClr val="10B981"/>
      </a:accent2>
      <a:accent3>
        <a:srgbClr val="F59E0B"/>
      </a:accent3>
      <a:accent4>
        <a:srgbClr val="6B4EA8"/>
      </a:accent4>
      <a:accent5>
        <a:srgbClr val="C0392B"/>
      </a:accent5>
      <a:accent6>
        <a:srgbClr val="64748B"/>
      </a:accent6>
      <a:hlink>
        <a:srgbClr val="1D63A3"/>
      </a:hlink>
      <a:folHlink>
        <a:srgbClr val="6B4EA8"/>
      </a:folHlink>
    </a:clrScheme>
    <a:fontScheme name="IC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IC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