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174"/>
          </a:solidFill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00" y="1500000"/>
            <a:ext cx="7864000" cy="11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4000" b="1">
                <a:solidFill>
                  <a:srgbClr val="FFFFFF"/>
                </a:solidFill>
              </a:rPr>
              <a:t>ICR Mumbai Chapter: Meetup Deck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2700000"/>
            <a:ext cx="786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C3D0DF"/>
                </a:solidFill>
              </a:rPr>
              <a:t>Highlights from the last chapter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Market snapshot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Grade-A office stock: 121 million sq ft</a:t>
            </a:r>
          </a:p>
          <a:p>
            <a:r>
              <a:rPr lang="en-IN" sz="1800" b="0">
                <a:solidFill>
                  <a:srgbClr val="111C2D"/>
                </a:solidFill>
              </a:rPr>
              <a:t>Share of stock in high-rise towers (30+ floors): 37%</a:t>
            </a:r>
          </a:p>
          <a:p>
            <a:r>
              <a:rPr lang="en-IN" sz="1800" b="0">
                <a:solidFill>
                  <a:srgbClr val="111C2D"/>
                </a:solidFill>
              </a:rPr>
              <a:t>Median IFM cost per sq ft per month: Rs 44</a:t>
            </a:r>
          </a:p>
          <a:p>
            <a:r>
              <a:rPr lang="en-IN" sz="1800" b="0">
                <a:solidFill>
                  <a:srgbClr val="111C2D"/>
                </a:solidFill>
              </a:rPr>
              <a:t>Lift waiting-time complaints per 1,000 seats: 21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Themes we heard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Vertical transport capacity is the binding constraint at the 9 to 10 am peak</a:t>
            </a:r>
          </a:p>
          <a:p>
            <a:r>
              <a:rPr lang="en-IN" sz="1800" b="0">
                <a:solidFill>
                  <a:srgbClr val="111C2D"/>
                </a:solidFill>
              </a:rPr>
              <a:t>Coastal air accelerates corrosion on plant, railings and curtain-wall fixings</a:t>
            </a:r>
          </a:p>
          <a:p>
            <a:r>
              <a:rPr lang="en-IN" sz="1800" b="0">
                <a:solidFill>
                  <a:srgbClr val="111C2D"/>
                </a:solidFill>
              </a:rPr>
              <a:t>BFSI security and business-continuity rules shape every service contract</a:t>
            </a:r>
          </a:p>
          <a:p>
            <a:r>
              <a:rPr lang="en-IN" sz="1800" b="0">
                <a:solidFill>
                  <a:srgbClr val="111C2D"/>
                </a:solidFill>
              </a:rPr>
              <a:t>Space is expensive, so fit-out density and meeting-room supply are board-level topics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Next steps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Share your site data with the committee</a:t>
            </a:r>
          </a:p>
          <a:p>
            <a:r>
              <a:rPr lang="en-IN" sz="1800" b="0">
                <a:solidFill>
                  <a:srgbClr val="111C2D"/>
                </a:solidFill>
              </a:rPr>
              <a:t>Volunteer for the next session</a:t>
            </a:r>
          </a:p>
          <a:p>
            <a:r>
              <a:rPr lang="en-IN" sz="1800" b="0">
                <a:solidFill>
                  <a:srgbClr val="111C2D"/>
                </a:solidFill>
              </a:rPr>
              <a:t>Join the working group on service levels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R">
  <a:themeElements>
    <a:clrScheme name="ICR">
      <a:dk1>
        <a:srgbClr val="111C2D"/>
      </a:dk1>
      <a:lt1>
        <a:srgbClr val="FFFFFF"/>
      </a:lt1>
      <a:dk2>
        <a:srgbClr val="144174"/>
      </a:dk2>
      <a:lt2>
        <a:srgbClr val="F1F5F9"/>
      </a:lt2>
      <a:accent1>
        <a:srgbClr val="1D63A3"/>
      </a:accent1>
      <a:accent2>
        <a:srgbClr val="10B981"/>
      </a:accent2>
      <a:accent3>
        <a:srgbClr val="F59E0B"/>
      </a:accent3>
      <a:accent4>
        <a:srgbClr val="6B4EA8"/>
      </a:accent4>
      <a:accent5>
        <a:srgbClr val="C0392B"/>
      </a:accent5>
      <a:accent6>
        <a:srgbClr val="64748B"/>
      </a:accent6>
      <a:hlink>
        <a:srgbClr val="1D63A3"/>
      </a:hlink>
      <a:folHlink>
        <a:srgbClr val="6B4EA8"/>
      </a:folHlink>
    </a:clrScheme>
    <a:fontScheme name="IC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C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