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174"/>
          </a:solidFill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00" y="1500000"/>
            <a:ext cx="7864000" cy="11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4000" b="1">
                <a:solidFill>
                  <a:srgbClr val="FFFFFF"/>
                </a:solidFill>
              </a:rPr>
              <a:t>GCC Workplace Leadership: Quarterly Briefing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2700000"/>
            <a:ext cx="786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C3D0DF"/>
                </a:solidFill>
              </a:rPr>
              <a:t>ICR Council on Workplace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Where occupancy has settled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Mid-week peak at 60 to 65% of seats</a:t>
            </a:r>
          </a:p>
          <a:p>
            <a:r>
              <a:rPr lang="en-IN" sz="1800" b="0">
                <a:solidFill>
                  <a:srgbClr val="111C2D"/>
                </a:solidFill>
              </a:rPr>
              <a:t>Mondays and Fridays under 35%</a:t>
            </a:r>
          </a:p>
          <a:p>
            <a:r>
              <a:rPr lang="en-IN" sz="1800" b="0">
                <a:solidFill>
                  <a:srgbClr val="111C2D"/>
                </a:solidFill>
              </a:rPr>
              <a:t>Team days beat individual days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What operators are changing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Seat ratios of 0.6 to 0.7 per employee</a:t>
            </a:r>
          </a:p>
          <a:p>
            <a:r>
              <a:rPr lang="en-IN" sz="1800" b="0">
                <a:solidFill>
                  <a:srgbClr val="111C2D"/>
                </a:solidFill>
              </a:rPr>
              <a:t>Bookable neighbourhoods instead of fixed desks</a:t>
            </a:r>
          </a:p>
          <a:p>
            <a:r>
              <a:rPr lang="en-IN" sz="1800" b="0">
                <a:solidFill>
                  <a:srgbClr val="111C2D"/>
                </a:solidFill>
              </a:rPr>
              <a:t>Service levels tied to peak days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What to do next quarter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Meter floor-level occupancy</a:t>
            </a:r>
          </a:p>
          <a:p>
            <a:r>
              <a:rPr lang="en-IN" sz="1800" b="0">
                <a:solidFill>
                  <a:srgbClr val="111C2D"/>
                </a:solidFill>
              </a:rPr>
              <a:t>Renegotiate cleaning and cafeteria to a peak-day model</a:t>
            </a:r>
          </a:p>
          <a:p>
            <a:r>
              <a:rPr lang="en-IN" sz="1800" b="0">
                <a:solidFill>
                  <a:srgbClr val="111C2D"/>
                </a:solidFill>
              </a:rPr>
              <a:t>Publish a seat-ratio target by site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R">
  <a:themeElements>
    <a:clrScheme name="ICR">
      <a:dk1>
        <a:srgbClr val="111C2D"/>
      </a:dk1>
      <a:lt1>
        <a:srgbClr val="FFFFFF"/>
      </a:lt1>
      <a:dk2>
        <a:srgbClr val="144174"/>
      </a:dk2>
      <a:lt2>
        <a:srgbClr val="F1F5F9"/>
      </a:lt2>
      <a:accent1>
        <a:srgbClr val="1D63A3"/>
      </a:accent1>
      <a:accent2>
        <a:srgbClr val="10B981"/>
      </a:accent2>
      <a:accent3>
        <a:srgbClr val="F59E0B"/>
      </a:accent3>
      <a:accent4>
        <a:srgbClr val="6B4EA8"/>
      </a:accent4>
      <a:accent5>
        <a:srgbClr val="C0392B"/>
      </a:accent5>
      <a:accent6>
        <a:srgbClr val="64748B"/>
      </a:accent6>
      <a:hlink>
        <a:srgbClr val="1D63A3"/>
      </a:hlink>
      <a:folHlink>
        <a:srgbClr val="6B4EA8"/>
      </a:folHlink>
    </a:clrScheme>
    <a:fontScheme name="IC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IC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